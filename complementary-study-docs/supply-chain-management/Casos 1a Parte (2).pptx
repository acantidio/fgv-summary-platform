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03BB20E-F91F-4A87-A853-882D3C488639}">
  <a:tblStyle styleId="{A03BB20E-F91F-4A87-A853-882D3C48863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22" Type="http://schemas.openxmlformats.org/officeDocument/2006/relationships/slide" Target="slides/slide15.xml"/><Relationship Id="rId10" Type="http://schemas.openxmlformats.org/officeDocument/2006/relationships/slide" Target="slides/slide3.xml"/><Relationship Id="rId21" Type="http://schemas.openxmlformats.org/officeDocument/2006/relationships/slide" Target="slides/slide14.xml"/><Relationship Id="rId13" Type="http://schemas.openxmlformats.org/officeDocument/2006/relationships/slide" Target="slides/slide6.xml"/><Relationship Id="rId24" Type="http://schemas.openxmlformats.org/officeDocument/2006/relationships/slide" Target="slides/slide17.xml"/><Relationship Id="rId12" Type="http://schemas.openxmlformats.org/officeDocument/2006/relationships/slide" Target="slides/slide5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699f77095_2_75:notes"/>
          <p:cNvSpPr txBox="1"/>
          <p:nvPr>
            <p:ph idx="12" type="sldNum"/>
          </p:nvPr>
        </p:nvSpPr>
        <p:spPr>
          <a:xfrm>
            <a:off x="3884414" y="8685893"/>
            <a:ext cx="2972098" cy="456595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3f699f77095_2_75:notes"/>
          <p:cNvSpPr/>
          <p:nvPr>
            <p:ph idx="2" type="sldImg"/>
          </p:nvPr>
        </p:nvSpPr>
        <p:spPr>
          <a:xfrm>
            <a:off x="428625" y="686405"/>
            <a:ext cx="60007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34" name="Google Shape;134;g3f699f77095_2_75:notes"/>
          <p:cNvSpPr txBox="1"/>
          <p:nvPr>
            <p:ph idx="1" type="body"/>
          </p:nvPr>
        </p:nvSpPr>
        <p:spPr>
          <a:xfrm>
            <a:off x="686098" y="4343703"/>
            <a:ext cx="5485805" cy="41138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699f77095_2_86:notes"/>
          <p:cNvSpPr txBox="1"/>
          <p:nvPr>
            <p:ph idx="1" type="body"/>
          </p:nvPr>
        </p:nvSpPr>
        <p:spPr>
          <a:xfrm>
            <a:off x="686098" y="4343703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f699f77095_2_86:notes"/>
          <p:cNvSpPr/>
          <p:nvPr>
            <p:ph idx="2" type="sldImg"/>
          </p:nvPr>
        </p:nvSpPr>
        <p:spPr>
          <a:xfrm>
            <a:off x="428625" y="686405"/>
            <a:ext cx="60007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699f77095_2_91:notes"/>
          <p:cNvSpPr txBox="1"/>
          <p:nvPr>
            <p:ph idx="1" type="body"/>
          </p:nvPr>
        </p:nvSpPr>
        <p:spPr>
          <a:xfrm>
            <a:off x="686098" y="4343703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f699f77095_2_91:notes"/>
          <p:cNvSpPr/>
          <p:nvPr>
            <p:ph idx="2" type="sldImg"/>
          </p:nvPr>
        </p:nvSpPr>
        <p:spPr>
          <a:xfrm>
            <a:off x="428625" y="686405"/>
            <a:ext cx="60007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699f77095_2_102:notes"/>
          <p:cNvSpPr txBox="1"/>
          <p:nvPr>
            <p:ph idx="1" type="body"/>
          </p:nvPr>
        </p:nvSpPr>
        <p:spPr>
          <a:xfrm>
            <a:off x="686098" y="4343703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f699f77095_2_102:notes"/>
          <p:cNvSpPr/>
          <p:nvPr>
            <p:ph idx="2" type="sldImg"/>
          </p:nvPr>
        </p:nvSpPr>
        <p:spPr>
          <a:xfrm>
            <a:off x="428625" y="686405"/>
            <a:ext cx="60007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699f77095_2_112:notes"/>
          <p:cNvSpPr txBox="1"/>
          <p:nvPr>
            <p:ph idx="1" type="body"/>
          </p:nvPr>
        </p:nvSpPr>
        <p:spPr>
          <a:xfrm>
            <a:off x="686098" y="4343703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f699f77095_2_112:notes"/>
          <p:cNvSpPr/>
          <p:nvPr>
            <p:ph idx="2" type="sldImg"/>
          </p:nvPr>
        </p:nvSpPr>
        <p:spPr>
          <a:xfrm>
            <a:off x="428625" y="686405"/>
            <a:ext cx="60007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699f77095_2_117:notes"/>
          <p:cNvSpPr txBox="1"/>
          <p:nvPr>
            <p:ph idx="1" type="body"/>
          </p:nvPr>
        </p:nvSpPr>
        <p:spPr>
          <a:xfrm>
            <a:off x="686098" y="4343703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f699f77095_2_117:notes"/>
          <p:cNvSpPr/>
          <p:nvPr>
            <p:ph idx="2" type="sldImg"/>
          </p:nvPr>
        </p:nvSpPr>
        <p:spPr>
          <a:xfrm>
            <a:off x="428625" y="686405"/>
            <a:ext cx="60007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699f77095_2_129:notes"/>
          <p:cNvSpPr txBox="1"/>
          <p:nvPr>
            <p:ph idx="1" type="body"/>
          </p:nvPr>
        </p:nvSpPr>
        <p:spPr>
          <a:xfrm>
            <a:off x="686098" y="4343703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f699f77095_2_129:notes"/>
          <p:cNvSpPr/>
          <p:nvPr>
            <p:ph idx="2" type="sldImg"/>
          </p:nvPr>
        </p:nvSpPr>
        <p:spPr>
          <a:xfrm>
            <a:off x="428625" y="686405"/>
            <a:ext cx="60007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699f77095_2_134:notes"/>
          <p:cNvSpPr txBox="1"/>
          <p:nvPr>
            <p:ph idx="1" type="body"/>
          </p:nvPr>
        </p:nvSpPr>
        <p:spPr>
          <a:xfrm>
            <a:off x="686098" y="4343703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f699f77095_2_134:notes"/>
          <p:cNvSpPr/>
          <p:nvPr>
            <p:ph idx="2" type="sldImg"/>
          </p:nvPr>
        </p:nvSpPr>
        <p:spPr>
          <a:xfrm>
            <a:off x="428625" y="686405"/>
            <a:ext cx="60007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699f77095_2_139:notes"/>
          <p:cNvSpPr txBox="1"/>
          <p:nvPr>
            <p:ph idx="1" type="body"/>
          </p:nvPr>
        </p:nvSpPr>
        <p:spPr>
          <a:xfrm>
            <a:off x="686098" y="4343703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f699f77095_2_139:notes"/>
          <p:cNvSpPr/>
          <p:nvPr>
            <p:ph idx="2" type="sldImg"/>
          </p:nvPr>
        </p:nvSpPr>
        <p:spPr>
          <a:xfrm>
            <a:off x="428625" y="686405"/>
            <a:ext cx="60007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699f77095_2_145:notes"/>
          <p:cNvSpPr txBox="1"/>
          <p:nvPr>
            <p:ph idx="1" type="body"/>
          </p:nvPr>
        </p:nvSpPr>
        <p:spPr>
          <a:xfrm>
            <a:off x="686098" y="4343703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f699f77095_2_145:notes"/>
          <p:cNvSpPr/>
          <p:nvPr>
            <p:ph idx="2" type="sldImg"/>
          </p:nvPr>
        </p:nvSpPr>
        <p:spPr>
          <a:xfrm>
            <a:off x="428625" y="686405"/>
            <a:ext cx="60007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699f77095_2_150:notes"/>
          <p:cNvSpPr txBox="1"/>
          <p:nvPr>
            <p:ph idx="1" type="body"/>
          </p:nvPr>
        </p:nvSpPr>
        <p:spPr>
          <a:xfrm>
            <a:off x="686098" y="4343703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f699f77095_2_150:notes"/>
          <p:cNvSpPr/>
          <p:nvPr>
            <p:ph idx="2" type="sldImg"/>
          </p:nvPr>
        </p:nvSpPr>
        <p:spPr>
          <a:xfrm>
            <a:off x="428625" y="686405"/>
            <a:ext cx="60007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699f77095_2_155:notes"/>
          <p:cNvSpPr txBox="1"/>
          <p:nvPr>
            <p:ph idx="1" type="body"/>
          </p:nvPr>
        </p:nvSpPr>
        <p:spPr>
          <a:xfrm>
            <a:off x="686098" y="4343703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f699f77095_2_155:notes"/>
          <p:cNvSpPr/>
          <p:nvPr>
            <p:ph idx="2" type="sldImg"/>
          </p:nvPr>
        </p:nvSpPr>
        <p:spPr>
          <a:xfrm>
            <a:off x="428625" y="686405"/>
            <a:ext cx="60007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699f77095_2_161:notes"/>
          <p:cNvSpPr txBox="1"/>
          <p:nvPr>
            <p:ph idx="1" type="body"/>
          </p:nvPr>
        </p:nvSpPr>
        <p:spPr>
          <a:xfrm>
            <a:off x="686098" y="4343703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f699f77095_2_161:notes"/>
          <p:cNvSpPr/>
          <p:nvPr>
            <p:ph idx="2" type="sldImg"/>
          </p:nvPr>
        </p:nvSpPr>
        <p:spPr>
          <a:xfrm>
            <a:off x="428625" y="686405"/>
            <a:ext cx="60007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699f77095_2_166:notes"/>
          <p:cNvSpPr txBox="1"/>
          <p:nvPr>
            <p:ph idx="1" type="body"/>
          </p:nvPr>
        </p:nvSpPr>
        <p:spPr>
          <a:xfrm>
            <a:off x="686098" y="4343703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f699f77095_2_166:notes"/>
          <p:cNvSpPr/>
          <p:nvPr>
            <p:ph idx="2" type="sldImg"/>
          </p:nvPr>
        </p:nvSpPr>
        <p:spPr>
          <a:xfrm>
            <a:off x="428625" y="686405"/>
            <a:ext cx="60007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f699f77095_2_171:notes"/>
          <p:cNvSpPr txBox="1"/>
          <p:nvPr>
            <p:ph idx="1" type="body"/>
          </p:nvPr>
        </p:nvSpPr>
        <p:spPr>
          <a:xfrm>
            <a:off x="686098" y="4343703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f699f77095_2_171:notes"/>
          <p:cNvSpPr/>
          <p:nvPr>
            <p:ph idx="2" type="sldImg"/>
          </p:nvPr>
        </p:nvSpPr>
        <p:spPr>
          <a:xfrm>
            <a:off x="428625" y="686405"/>
            <a:ext cx="60007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699f77095_2_176:notes"/>
          <p:cNvSpPr txBox="1"/>
          <p:nvPr>
            <p:ph idx="1" type="body"/>
          </p:nvPr>
        </p:nvSpPr>
        <p:spPr>
          <a:xfrm>
            <a:off x="686098" y="4343703"/>
            <a:ext cx="5485805" cy="4113892"/>
          </a:xfrm>
          <a:prstGeom prst="rect">
            <a:avLst/>
          </a:prstGeom>
        </p:spPr>
        <p:txBody>
          <a:bodyPr anchorCtr="0" anchor="t" bIns="86175" lIns="86175" spcFirstLastPara="1" rIns="86175" wrap="square" tIns="8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f699f77095_2_176:notes"/>
          <p:cNvSpPr/>
          <p:nvPr>
            <p:ph idx="2" type="sldImg"/>
          </p:nvPr>
        </p:nvSpPr>
        <p:spPr>
          <a:xfrm>
            <a:off x="428625" y="686405"/>
            <a:ext cx="60007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/>
          <p:nvPr/>
        </p:nvSpPr>
        <p:spPr>
          <a:xfrm>
            <a:off x="228600" y="914400"/>
            <a:ext cx="3352800" cy="1485900"/>
          </a:xfrm>
          <a:prstGeom prst="wedgeRoundRectCallout">
            <a:avLst>
              <a:gd fmla="val 61315" name="adj1"/>
              <a:gd fmla="val 71713" name="adj2"/>
              <a:gd fmla="val 16667" name="adj3"/>
            </a:avLst>
          </a:prstGeom>
          <a:solidFill>
            <a:srgbClr val="FFFFFF"/>
          </a:solidFill>
          <a:ln cap="flat" cmpd="sng" w="38100">
            <a:solidFill>
              <a:srgbClr val="00009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Quais os custos relevantes na decisão?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7" name="Google Shape;137;p26"/>
          <p:cNvSpPr/>
          <p:nvPr/>
        </p:nvSpPr>
        <p:spPr>
          <a:xfrm>
            <a:off x="5562600" y="857250"/>
            <a:ext cx="3352800" cy="1485900"/>
          </a:xfrm>
          <a:prstGeom prst="wedgeRoundRectCallout">
            <a:avLst>
              <a:gd fmla="val -58190" name="adj1"/>
              <a:gd fmla="val 74519" name="adj2"/>
              <a:gd fmla="val 16667" name="adj3"/>
            </a:avLst>
          </a:prstGeom>
          <a:solidFill>
            <a:srgbClr val="FFFFFF"/>
          </a:solidFill>
          <a:ln cap="flat" cmpd="sng" w="38100">
            <a:solidFill>
              <a:srgbClr val="00009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Quais os custos evitáveis?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8" name="Google Shape;138;p26"/>
          <p:cNvSpPr/>
          <p:nvPr/>
        </p:nvSpPr>
        <p:spPr>
          <a:xfrm>
            <a:off x="5562600" y="3314700"/>
            <a:ext cx="3384550" cy="1485900"/>
          </a:xfrm>
          <a:prstGeom prst="wedgeRoundRectCallout">
            <a:avLst>
              <a:gd fmla="val -65384" name="adj1"/>
              <a:gd fmla="val -59134" name="adj2"/>
              <a:gd fmla="val 16667" name="adj3"/>
            </a:avLst>
          </a:prstGeom>
          <a:solidFill>
            <a:srgbClr val="FFFFFF"/>
          </a:solidFill>
          <a:ln cap="flat" cmpd="sng" w="38100">
            <a:solidFill>
              <a:srgbClr val="00009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Quais as receitas relevantes na decisão?</a:t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9" name="Google Shape;139;p26"/>
          <p:cNvSpPr/>
          <p:nvPr/>
        </p:nvSpPr>
        <p:spPr>
          <a:xfrm>
            <a:off x="152400" y="3314700"/>
            <a:ext cx="3352800" cy="1485900"/>
          </a:xfrm>
          <a:prstGeom prst="wedgeRoundRectCallout">
            <a:avLst>
              <a:gd fmla="val 70926" name="adj1"/>
              <a:gd fmla="val -56412" name="adj2"/>
              <a:gd fmla="val 16667" name="adj3"/>
            </a:avLst>
          </a:prstGeom>
          <a:solidFill>
            <a:srgbClr val="FFFFFF"/>
          </a:solidFill>
          <a:ln cap="flat" cmpd="sng" w="38100">
            <a:solidFill>
              <a:srgbClr val="00009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Pode impactar a qualidade do serviço?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descr="BD00028_" id="140" name="Google Shape;14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800" y="2457450"/>
            <a:ext cx="895350" cy="831056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6"/>
          <p:cNvSpPr/>
          <p:nvPr/>
        </p:nvSpPr>
        <p:spPr>
          <a:xfrm>
            <a:off x="228600" y="173831"/>
            <a:ext cx="8519864" cy="715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CASES – Decisões envolvendo Custos em Supply Chain Management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/>
        </p:nvSpPr>
        <p:spPr>
          <a:xfrm>
            <a:off x="228600" y="670322"/>
            <a:ext cx="8534400" cy="25414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Determinado produto apresenta os seguintes custos:</a:t>
            </a:r>
            <a:endParaRPr/>
          </a:p>
          <a:p>
            <a:pPr indent="0" lvl="0" marL="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CF = $ 5.000, CVu = $ 5,00, PV = $8,00</a:t>
            </a:r>
            <a:endParaRPr/>
          </a:p>
          <a:p>
            <a:pPr indent="0" lvl="0" marL="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a) Para venda de 1.000 un, qual o lucro/prejuízo?</a:t>
            </a:r>
            <a:endParaRPr/>
          </a:p>
          <a:p>
            <a:pPr indent="0" lvl="0" marL="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b) Se vendermos 2.000 un, qual o lucro/prejuízo?</a:t>
            </a:r>
            <a:endParaRPr/>
          </a:p>
          <a:p>
            <a:pPr indent="0" lvl="0" marL="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c) Determine o PEF:</a:t>
            </a:r>
            <a:endParaRPr/>
          </a:p>
          <a:p>
            <a:pPr indent="0" lvl="0" marL="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d) Determine o PEM:</a:t>
            </a:r>
            <a:endParaRPr/>
          </a:p>
          <a:p>
            <a:pPr indent="0" lvl="0" marL="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7"/>
          <p:cNvSpPr txBox="1"/>
          <p:nvPr/>
        </p:nvSpPr>
        <p:spPr>
          <a:xfrm>
            <a:off x="296863" y="284560"/>
            <a:ext cx="8648700" cy="392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1 : Expansão ou Redução de um Serviço ou Produto</a:t>
            </a:r>
            <a:endParaRPr/>
          </a:p>
        </p:txBody>
      </p:sp>
    </p:spTree>
  </p:cSld>
  <p:clrMapOvr>
    <a:masterClrMapping/>
  </p:clrMapOvr>
  <p:transition spd="med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/>
        </p:nvSpPr>
        <p:spPr>
          <a:xfrm>
            <a:off x="296863" y="410766"/>
            <a:ext cx="5476875" cy="392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2 : CUSTOS FIXOS E VARIAVEIS</a:t>
            </a:r>
            <a:endParaRPr/>
          </a:p>
        </p:txBody>
      </p:sp>
      <p:graphicFrame>
        <p:nvGraphicFramePr>
          <p:cNvPr id="153" name="Google Shape;153;p28"/>
          <p:cNvGraphicFramePr/>
          <p:nvPr/>
        </p:nvGraphicFramePr>
        <p:xfrm>
          <a:off x="900113" y="13835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{A03BB20E-F91F-4A87-A853-882D3C488639}</a:tableStyleId>
              </a:tblPr>
              <a:tblGrid>
                <a:gridCol w="2594850"/>
                <a:gridCol w="1186225"/>
                <a:gridCol w="1186225"/>
              </a:tblGrid>
              <a:tr h="281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pt-BR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Preço médio por km</a:t>
                      </a:r>
                      <a:endParaRPr sz="1100"/>
                    </a:p>
                  </a:txBody>
                  <a:tcPr marT="7150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pt-BR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1,20</a:t>
                      </a:r>
                      <a:endParaRPr sz="1100"/>
                    </a:p>
                  </a:txBody>
                  <a:tcPr marT="7150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pt-BR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R$/km</a:t>
                      </a:r>
                      <a:endParaRPr sz="1100"/>
                    </a:p>
                  </a:txBody>
                  <a:tcPr marT="7150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1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pt-BR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CVU</a:t>
                      </a:r>
                      <a:endParaRPr sz="1100"/>
                    </a:p>
                  </a:txBody>
                  <a:tcPr marT="7150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pt-BR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</a:t>
                      </a:r>
                      <a:endParaRPr sz="1100"/>
                    </a:p>
                  </a:txBody>
                  <a:tcPr marT="7150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pt-BR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R$/km</a:t>
                      </a:r>
                      <a:endParaRPr sz="1100"/>
                    </a:p>
                  </a:txBody>
                  <a:tcPr marT="7150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1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pt-BR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CF anuais</a:t>
                      </a:r>
                      <a:endParaRPr sz="1100"/>
                    </a:p>
                  </a:txBody>
                  <a:tcPr marT="7150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pt-BR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120.000</a:t>
                      </a:r>
                      <a:endParaRPr sz="1100"/>
                    </a:p>
                  </a:txBody>
                  <a:tcPr marT="7150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pt-BR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R$/ano</a:t>
                      </a:r>
                      <a:endParaRPr sz="1100"/>
                    </a:p>
                  </a:txBody>
                  <a:tcPr marT="7150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4" name="Google Shape;154;p28"/>
          <p:cNvSpPr txBox="1"/>
          <p:nvPr/>
        </p:nvSpPr>
        <p:spPr>
          <a:xfrm>
            <a:off x="539750" y="904875"/>
            <a:ext cx="8064500" cy="4845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Sua empresa de transporte de carga (modal rodoviário) dispõe dos seguintes dados por caminhão: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8"/>
          <p:cNvSpPr txBox="1"/>
          <p:nvPr/>
        </p:nvSpPr>
        <p:spPr>
          <a:xfrm>
            <a:off x="468313" y="2399110"/>
            <a:ext cx="80645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 base nos dados disponíveis, responda:</a:t>
            </a:r>
            <a:endParaRPr/>
          </a:p>
        </p:txBody>
      </p:sp>
      <p:sp>
        <p:nvSpPr>
          <p:cNvPr id="156" name="Google Shape;156;p28"/>
          <p:cNvSpPr/>
          <p:nvPr/>
        </p:nvSpPr>
        <p:spPr>
          <a:xfrm>
            <a:off x="539750" y="2831306"/>
            <a:ext cx="756126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1) Se a meta for 800.000km/ano qual o lucro previsto?</a:t>
            </a:r>
            <a:endParaRPr/>
          </a:p>
        </p:txBody>
      </p:sp>
      <p:sp>
        <p:nvSpPr>
          <p:cNvPr id="157" name="Google Shape;157;p28"/>
          <p:cNvSpPr/>
          <p:nvPr/>
        </p:nvSpPr>
        <p:spPr>
          <a:xfrm>
            <a:off x="539750" y="3208735"/>
            <a:ext cx="8280400" cy="484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2) Se o preço aumenta em 10%, sendo a meta de vendas mantida, qual o impacto no lucro planejado?</a:t>
            </a:r>
            <a:endParaRPr/>
          </a:p>
        </p:txBody>
      </p:sp>
      <p:sp>
        <p:nvSpPr>
          <p:cNvPr id="158" name="Google Shape;158;p28"/>
          <p:cNvSpPr/>
          <p:nvPr/>
        </p:nvSpPr>
        <p:spPr>
          <a:xfrm>
            <a:off x="576263" y="3759994"/>
            <a:ext cx="8243887" cy="4845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3) Com o preço mais alto, em quanto a demanda pode cair sem ameaçar o lucro planejado?</a:t>
            </a:r>
            <a:endParaRPr/>
          </a:p>
        </p:txBody>
      </p:sp>
      <p:sp>
        <p:nvSpPr>
          <p:cNvPr id="159" name="Google Shape;159;p28"/>
          <p:cNvSpPr/>
          <p:nvPr/>
        </p:nvSpPr>
        <p:spPr>
          <a:xfrm>
            <a:off x="539750" y="4288631"/>
            <a:ext cx="8135938" cy="6929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4) Considerando o preco retornando para R$ 1,20 com o aumento de R$ 12.000,00 nos custos fixos (mais publicidade), qual o aumento minimo de vendas para que a campanha se pague?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/>
          <p:nvPr/>
        </p:nvSpPr>
        <p:spPr>
          <a:xfrm>
            <a:off x="827088" y="3334941"/>
            <a:ext cx="1852612" cy="2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1) Qual a MCU?</a:t>
            </a:r>
            <a:endParaRPr/>
          </a:p>
        </p:txBody>
      </p:sp>
      <p:sp>
        <p:nvSpPr>
          <p:cNvPr id="165" name="Google Shape;165;p29"/>
          <p:cNvSpPr/>
          <p:nvPr/>
        </p:nvSpPr>
        <p:spPr>
          <a:xfrm>
            <a:off x="827088" y="3759994"/>
            <a:ext cx="7739062" cy="277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2) Qual o ponto de equilibrio físico? Qual o ponto de equilíbrio monetário?</a:t>
            </a:r>
            <a:endParaRPr/>
          </a:p>
        </p:txBody>
      </p:sp>
      <p:sp>
        <p:nvSpPr>
          <p:cNvPr id="166" name="Google Shape;166;p29"/>
          <p:cNvSpPr/>
          <p:nvPr/>
        </p:nvSpPr>
        <p:spPr>
          <a:xfrm>
            <a:off x="827088" y="4192191"/>
            <a:ext cx="78486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3) Se a quilometragem rodada for de 400.000 km, qual será o lucro?</a:t>
            </a:r>
            <a:endParaRPr/>
          </a:p>
        </p:txBody>
      </p:sp>
      <p:graphicFrame>
        <p:nvGraphicFramePr>
          <p:cNvPr id="167" name="Google Shape;167;p29"/>
          <p:cNvGraphicFramePr/>
          <p:nvPr/>
        </p:nvGraphicFramePr>
        <p:xfrm>
          <a:off x="900113" y="15454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{A03BB20E-F91F-4A87-A853-882D3C488639}</a:tableStyleId>
              </a:tblPr>
              <a:tblGrid>
                <a:gridCol w="2594850"/>
                <a:gridCol w="1186225"/>
                <a:gridCol w="1186225"/>
              </a:tblGrid>
              <a:tr h="281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pt-BR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Preco medio por km</a:t>
                      </a:r>
                      <a:endParaRPr sz="1100"/>
                    </a:p>
                  </a:txBody>
                  <a:tcPr marT="7150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pt-BR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1,20</a:t>
                      </a:r>
                      <a:endParaRPr sz="1100"/>
                    </a:p>
                  </a:txBody>
                  <a:tcPr marT="7150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pt-BR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R$/km</a:t>
                      </a:r>
                      <a:endParaRPr sz="1100"/>
                    </a:p>
                  </a:txBody>
                  <a:tcPr marT="7150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1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pt-BR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CVU</a:t>
                      </a:r>
                      <a:endParaRPr sz="1100"/>
                    </a:p>
                  </a:txBody>
                  <a:tcPr marT="7150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pt-BR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</a:t>
                      </a:r>
                      <a:endParaRPr sz="1100"/>
                    </a:p>
                  </a:txBody>
                  <a:tcPr marT="7150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pt-BR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R$/km</a:t>
                      </a:r>
                      <a:endParaRPr sz="1100"/>
                    </a:p>
                  </a:txBody>
                  <a:tcPr marT="7150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1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pt-BR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CF anuais</a:t>
                      </a:r>
                      <a:endParaRPr sz="1100"/>
                    </a:p>
                  </a:txBody>
                  <a:tcPr marT="7150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pt-BR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120.000</a:t>
                      </a:r>
                      <a:endParaRPr sz="1100"/>
                    </a:p>
                  </a:txBody>
                  <a:tcPr marT="7150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pt-BR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R$/ano</a:t>
                      </a:r>
                      <a:endParaRPr sz="1100"/>
                    </a:p>
                  </a:txBody>
                  <a:tcPr marT="7150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8" name="Google Shape;168;p29"/>
          <p:cNvSpPr txBox="1"/>
          <p:nvPr/>
        </p:nvSpPr>
        <p:spPr>
          <a:xfrm>
            <a:off x="539750" y="904875"/>
            <a:ext cx="8064500" cy="4845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Sua empresa de transporte de carga (modal rodoviário) dispõe dos seguintes dados por caminhão: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9"/>
          <p:cNvSpPr txBox="1"/>
          <p:nvPr/>
        </p:nvSpPr>
        <p:spPr>
          <a:xfrm>
            <a:off x="468313" y="2895600"/>
            <a:ext cx="8064500" cy="277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 base nos dados disponíveis, responda:</a:t>
            </a:r>
            <a:endParaRPr/>
          </a:p>
        </p:txBody>
      </p:sp>
      <p:sp>
        <p:nvSpPr>
          <p:cNvPr id="170" name="Google Shape;170;p29"/>
          <p:cNvSpPr txBox="1"/>
          <p:nvPr/>
        </p:nvSpPr>
        <p:spPr>
          <a:xfrm>
            <a:off x="296863" y="410766"/>
            <a:ext cx="5476875" cy="392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3 : CUSTOS FIXOS E VARIAVEIS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/>
          <p:nvPr/>
        </p:nvSpPr>
        <p:spPr>
          <a:xfrm>
            <a:off x="365125" y="640556"/>
            <a:ext cx="8550275" cy="38600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2 - Uma empresa comercializa o software Faça Tudo. Suponha que esta empresa espera vender 40 unidades do produto. Abaixo estão alguns dados complementares;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Preço unitário do software: $ 200,00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Custos fixos no período: $ 2.000,00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 variável do produto para a demanda esperada: $ 4.800,00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Custos totais para a demanda esperada: $ 6.800,00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empresa está avaliando se deve colocar um anúncio descrevendo o produto e as suas características em um panfleto para propaganda. Tal anúncio custará $ 500,00 e espera-se, com este anúncio, um incremento nas vendas em 10 por cento. 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empresa deverá colocar o anúncio? Justifique sua resposta matematicamente.  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0"/>
          <p:cNvSpPr txBox="1"/>
          <p:nvPr/>
        </p:nvSpPr>
        <p:spPr>
          <a:xfrm>
            <a:off x="214313" y="142875"/>
            <a:ext cx="3854450" cy="392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4 : Investir ou não?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/>
          <p:nvPr/>
        </p:nvSpPr>
        <p:spPr>
          <a:xfrm>
            <a:off x="228600" y="682229"/>
            <a:ext cx="8686800" cy="3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gerente de uma empresa está convencido de que os resultados do último trimestre foram fortemente prejudicados pelo resultado apurado no departamento de artigos de couro, e quer extingui-lo. O dpto financeiro elaborou o seguinte demonstrativo (último trimestre), com despesa de aluguel rateada em função da área ocupada e despesas fixas rateadas em função das vendas:</a:t>
            </a:r>
            <a:endParaRPr sz="900"/>
          </a:p>
          <a:p>
            <a:pPr indent="0" lvl="0" marL="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TOTAL		Secos		Couro		Drogaria</a:t>
            </a:r>
            <a:endParaRPr sz="900"/>
          </a:p>
          <a:p>
            <a:pPr indent="0" lvl="0" marL="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Vendas		50.000,00		30.000,00		15.000,00		5.000,00</a:t>
            </a:r>
            <a:endParaRPr sz="900"/>
          </a:p>
          <a:p>
            <a:pPr indent="0" lvl="0" marL="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CMV			26.000,00		13.000,00		10.000,00		3.000,00</a:t>
            </a:r>
            <a:endParaRPr sz="900"/>
          </a:p>
          <a:p>
            <a:pPr indent="0" lvl="0" marL="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Pessoal		10.500,00		6.000,00		4.000,00		500,00</a:t>
            </a:r>
            <a:endParaRPr sz="900"/>
          </a:p>
          <a:p>
            <a:pPr indent="0" lvl="0" marL="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Aluguel		9.000,00		5.500,00		3.000,00		500,00</a:t>
            </a:r>
            <a:endParaRPr sz="900"/>
          </a:p>
          <a:p>
            <a:pPr indent="0" lvl="0" marL="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Despesas Fixas	5.000,00		3.000,00		1.500,00		500,00</a:t>
            </a:r>
            <a:endParaRPr sz="900"/>
          </a:p>
          <a:p>
            <a:pPr indent="0" lvl="0" marL="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Resultado</a:t>
            </a:r>
            <a:r>
              <a:rPr b="1" i="0" lang="pt-BR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pt-BR" sz="1100" u="none" cap="none" strike="noStrik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(500,00)	</a:t>
            </a:r>
            <a:r>
              <a:rPr b="1" i="0" lang="pt-BR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	2.500,00		</a:t>
            </a:r>
            <a:r>
              <a:rPr b="1" i="0" lang="pt-BR" sz="1100" u="none" cap="none" strike="noStrik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(3.500,00)</a:t>
            </a:r>
            <a:r>
              <a:rPr b="1" i="0" lang="pt-BR" sz="1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	500,00</a:t>
            </a:r>
            <a:endParaRPr sz="900"/>
          </a:p>
        </p:txBody>
      </p:sp>
      <p:sp>
        <p:nvSpPr>
          <p:cNvPr id="182" name="Google Shape;182;p31"/>
          <p:cNvSpPr txBox="1"/>
          <p:nvPr/>
        </p:nvSpPr>
        <p:spPr>
          <a:xfrm>
            <a:off x="214313" y="214313"/>
            <a:ext cx="7262812" cy="392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5 : Eliminar ou não um Serviço ou Produto</a:t>
            </a:r>
            <a:endParaRPr/>
          </a:p>
        </p:txBody>
      </p:sp>
    </p:spTree>
  </p:cSld>
  <p:clrMapOvr>
    <a:masterClrMapping/>
  </p:clrMapOvr>
  <p:transition spd="med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 txBox="1"/>
          <p:nvPr/>
        </p:nvSpPr>
        <p:spPr>
          <a:xfrm>
            <a:off x="457200" y="803672"/>
            <a:ext cx="8305800" cy="2528888"/>
          </a:xfrm>
          <a:prstGeom prst="rect">
            <a:avLst/>
          </a:prstGeom>
          <a:noFill/>
          <a:ln cap="flat" cmpd="sng" w="12700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...continuação...</a:t>
            </a:r>
            <a:endParaRPr/>
          </a:p>
          <a:p>
            <a:pPr indent="0" lvl="0" marL="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dpto de couro ocupa todo o terceiro andar do prédio que ficaria fechado caso ele fosse extinto. Por se tratar basicamente de roupas de couro, o único item imobilizado são os cabides que têm valor desprezível e para os quais não existem compradores.</a:t>
            </a:r>
            <a:endParaRPr/>
          </a:p>
          <a:p>
            <a:pPr indent="0" lvl="0" marL="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 decisão devo tomar: manter ou extinguir o setor? </a:t>
            </a:r>
            <a:endParaRPr/>
          </a:p>
          <a:p>
            <a:pPr indent="0" lvl="0" marL="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2"/>
          <p:cNvSpPr txBox="1"/>
          <p:nvPr/>
        </p:nvSpPr>
        <p:spPr>
          <a:xfrm>
            <a:off x="214313" y="214313"/>
            <a:ext cx="7262812" cy="392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5 : Eliminar ou não um Serviço ou Produto</a:t>
            </a:r>
            <a:endParaRPr/>
          </a:p>
        </p:txBody>
      </p:sp>
    </p:spTree>
  </p:cSld>
  <p:clrMapOvr>
    <a:masterClrMapping/>
  </p:clrMapOvr>
  <p:transition spd="med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3"/>
          <p:cNvSpPr txBox="1"/>
          <p:nvPr/>
        </p:nvSpPr>
        <p:spPr>
          <a:xfrm>
            <a:off x="457200" y="653654"/>
            <a:ext cx="8305800" cy="41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Ex.: 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hospital antecipa que terá 50.000 atendimentos no ano que vem. Isto é substancialmente abaixo da sua capacidade de 70.000 atendimentos por ano. O hospital tem custos variáveis de $ 150,00 por atendimento. Seus custos fixos são de $ 3.000.000,00 por ano. Calcule o custo médio por atendimento para o hospital, considerando cada um dos seguintes volumes: 50.000 e 60.000 atendimentos.</a:t>
            </a:r>
            <a:endParaRPr sz="1200"/>
          </a:p>
          <a:p>
            <a:pPr indent="0" lvl="0" marL="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Assuma que determinado plano de saúde oferece gerar 10.000 atendimentos por ano. Eles não têm convênio atualmente com o hospital. Eles querem pagar um teto máximo de $ 180,00 por atendimento. Assumindo que o </a:t>
            </a:r>
            <a:r>
              <a:rPr b="0" i="1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mix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casos que viria através desse plano de saúde é similar ao </a:t>
            </a:r>
            <a:r>
              <a:rPr b="0" i="1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mix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atual representado pelos 50.000 atendimentos, deveria o hospital aceitar a proposta?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3"/>
          <p:cNvSpPr txBox="1"/>
          <p:nvPr/>
        </p:nvSpPr>
        <p:spPr>
          <a:xfrm>
            <a:off x="214313" y="214313"/>
            <a:ext cx="7683500" cy="392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6 : Aceitação ou não de um Contrato Especial</a:t>
            </a:r>
            <a:endParaRPr/>
          </a:p>
        </p:txBody>
      </p:sp>
    </p:spTree>
  </p:cSld>
  <p:clrMapOvr>
    <a:masterClrMapping/>
  </p:clrMapOvr>
  <p:transition spd="med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4"/>
          <p:cNvSpPr/>
          <p:nvPr/>
        </p:nvSpPr>
        <p:spPr>
          <a:xfrm>
            <a:off x="296863" y="871046"/>
            <a:ext cx="8572500" cy="3531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Empresa de eletrodoméstico localizada em Porto Alegre possui as seguintes características: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Demanda de 20.000 peças/ano para um CD (varejista) em São Paulo.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Restrição: Demanda Flat mensal.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Distância Porto Alegre – São Paulo: 1.120 Km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Tempo de viagem (ciclo completo): 4 dias (varia de acordo com o veículo)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Peso Bruto do eletrodoméstico: 44 Kg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Tempo de veículo indisponível: 10 dias (carregamento/descarreg./manutenção).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Considere que o mês tem 30 dias.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Calcule o Custo Unitário (R$/peça) para o transporte NA Scania T114, considerando a tabela abaixo: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4"/>
          <p:cNvSpPr/>
          <p:nvPr/>
        </p:nvSpPr>
        <p:spPr>
          <a:xfrm>
            <a:off x="0" y="3429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4"/>
          <p:cNvSpPr txBox="1"/>
          <p:nvPr/>
        </p:nvSpPr>
        <p:spPr>
          <a:xfrm>
            <a:off x="296863" y="410766"/>
            <a:ext cx="1383712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7 :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5"/>
          <p:cNvSpPr txBox="1"/>
          <p:nvPr/>
        </p:nvSpPr>
        <p:spPr>
          <a:xfrm>
            <a:off x="296863" y="410766"/>
            <a:ext cx="1383712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7 :</a:t>
            </a:r>
            <a:endParaRPr/>
          </a:p>
        </p:txBody>
      </p:sp>
      <p:pic>
        <p:nvPicPr>
          <p:cNvPr id="207" name="Google Shape;20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3213" y="844154"/>
            <a:ext cx="5616178" cy="364807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6"/>
          <p:cNvSpPr/>
          <p:nvPr/>
        </p:nvSpPr>
        <p:spPr>
          <a:xfrm>
            <a:off x="395300" y="835830"/>
            <a:ext cx="8497800" cy="4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fabricante de utensílios domésticos localizado em Pittsburgh compra um total de 3.000 caixas de peças plásticas avaliadas em $100,00 por caixas, de dois fornecedores diferentes (A e B). As compras estão divididas igualmente entre os fornecedores. Cada fornecedor usa o transporte ferroviário e consegue o mesmo tempo médio de entrega.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o propósito de fomentar a concorrência entre os dois fornecedores, o fabricante resolve lançar um plano: para cada dia que um fornecedor consiga redução do tempo médio de entrega, o fabricante deslocará 5% de suas COMPRAS TOTAIS para este fornecedor.</a:t>
            </a:r>
            <a:endParaRPr/>
          </a:p>
        </p:txBody>
      </p:sp>
      <p:sp>
        <p:nvSpPr>
          <p:cNvPr id="213" name="Google Shape;213;p36"/>
          <p:cNvSpPr txBox="1"/>
          <p:nvPr/>
        </p:nvSpPr>
        <p:spPr>
          <a:xfrm>
            <a:off x="296863" y="410766"/>
            <a:ext cx="1384300" cy="392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8 :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8" name="Google Shape;218;p37"/>
          <p:cNvGraphicFramePr/>
          <p:nvPr/>
        </p:nvGraphicFramePr>
        <p:xfrm>
          <a:off x="508813" y="30695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{A03BB20E-F91F-4A87-A853-882D3C488639}</a:tableStyleId>
              </a:tblPr>
              <a:tblGrid>
                <a:gridCol w="2447650"/>
                <a:gridCol w="2447650"/>
                <a:gridCol w="2448500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MODAL DE TRANSPORTE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VALOR UNITÁRIO DO TRANSPORTE ($/cx)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TEMPO DE ENTREGA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(dias)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Ferroviário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2,50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Rodoviário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6,00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Aéreo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10,35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9" name="Google Shape;219;p37"/>
          <p:cNvSpPr/>
          <p:nvPr/>
        </p:nvSpPr>
        <p:spPr>
          <a:xfrm>
            <a:off x="296863" y="819150"/>
            <a:ext cx="8596200" cy="13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Sabendo que o fornecedor tem uma margem de lucro de 20% em cada caixa, antes de contabilizado o custo do transporte, e que o fornecedor B já manifestou que não pretende mudar o modal de transporte para fornecimento dos produtos, pergunta-se: o que o fornecedor A deveria fazer?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Segue abaixo uma tabela com informações dos modais de transporte.</a:t>
            </a:r>
            <a:endParaRPr/>
          </a:p>
        </p:txBody>
      </p:sp>
      <p:sp>
        <p:nvSpPr>
          <p:cNvPr id="220" name="Google Shape;220;p37"/>
          <p:cNvSpPr txBox="1"/>
          <p:nvPr/>
        </p:nvSpPr>
        <p:spPr>
          <a:xfrm>
            <a:off x="287338" y="316706"/>
            <a:ext cx="1382712" cy="392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8 :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8"/>
          <p:cNvSpPr txBox="1"/>
          <p:nvPr/>
        </p:nvSpPr>
        <p:spPr>
          <a:xfrm>
            <a:off x="296863" y="410766"/>
            <a:ext cx="1384300" cy="392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9 :</a:t>
            </a:r>
            <a:endParaRPr/>
          </a:p>
        </p:txBody>
      </p:sp>
      <p:sp>
        <p:nvSpPr>
          <p:cNvPr id="226" name="Google Shape;226;p38"/>
          <p:cNvSpPr/>
          <p:nvPr/>
        </p:nvSpPr>
        <p:spPr>
          <a:xfrm>
            <a:off x="250825" y="998935"/>
            <a:ext cx="8066088" cy="3300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empresa LOBO S/A está trabalhando a plena capacidade produzindo 10.000 unidades do produto A. O custo unitário de produção do produto A é: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Custo Variável de produção: 	$  7,00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8580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 Variável de marketing: 	$  4,00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8580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 Fixo de produção: 	             </a:t>
            </a:r>
            <a:r>
              <a:rPr b="0" i="0" lang="pt-BR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  3,00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8580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TOTAL:				$ 14,00	</a:t>
            </a:r>
            <a:endParaRPr/>
          </a:p>
          <a:p>
            <a:pPr indent="68580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68580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empresa não tem Custos Fixos associados a marketing. O preço de venda é de $ 20,00. Um cliente, a CIA VITÓRIA, solicitou à LOBO a produção de 2.000 unidades de produto B, uma variação do produto A (os custos são os mesmos). A CIA VITÓRIA ofereceu pagar à LOBO $ 17,00 por unidade do produto B.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9"/>
          <p:cNvSpPr/>
          <p:nvPr/>
        </p:nvSpPr>
        <p:spPr>
          <a:xfrm>
            <a:off x="296863" y="897731"/>
            <a:ext cx="8451850" cy="1939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TIGRE ofereceu produzir 2.000 unidades de produto A para a LOBO, para que ela pudesse aceitar a oferta da VITÓRIA. Ou seja, se a LOBO aceitar a oferta da TIGRE, a LOBO fabricaria 8.000 unidades de produto A e 2.000 unidades de produto B e compraria 2.000 unidades de produto A da TIGRE.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TIGRE cobraria da LOBO $ 14,00 por unidade para fabricar o produto A. A LOBO incorre em custos variáveis de marketing em todas as suas vendas, independentemente de produzir as unidades ou comprá-las da TIGRE. Deveria a LOBO aceitar a oferta da TIGRE? Justifique com cálculos.</a:t>
            </a:r>
            <a:endParaRPr/>
          </a:p>
        </p:txBody>
      </p:sp>
      <p:sp>
        <p:nvSpPr>
          <p:cNvPr id="232" name="Google Shape;232;p39"/>
          <p:cNvSpPr txBox="1"/>
          <p:nvPr/>
        </p:nvSpPr>
        <p:spPr>
          <a:xfrm>
            <a:off x="296863" y="410766"/>
            <a:ext cx="1384300" cy="392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9 :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0"/>
          <p:cNvSpPr txBox="1"/>
          <p:nvPr/>
        </p:nvSpPr>
        <p:spPr>
          <a:xfrm>
            <a:off x="323850" y="411956"/>
            <a:ext cx="1484702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10:</a:t>
            </a:r>
            <a:endParaRPr/>
          </a:p>
        </p:txBody>
      </p:sp>
      <p:sp>
        <p:nvSpPr>
          <p:cNvPr id="238" name="Google Shape;238;p40"/>
          <p:cNvSpPr/>
          <p:nvPr/>
        </p:nvSpPr>
        <p:spPr>
          <a:xfrm>
            <a:off x="395288" y="950119"/>
            <a:ext cx="8353425" cy="23776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indústria XPTO teve os seguintes custos e despesas no mês corrente: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Mão-de-obra direta (MOD): $ 100,00 / hora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Materiais (MAT): $ 200,00 / Kg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Comissão de vendas: $ 20,00 / unidade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Gastos totais fixos de $ 700.000,00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empresa rateou os gastos fixos pela produção do período. Considere, ainda, as seguintes informações: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1"/>
          <p:cNvSpPr/>
          <p:nvPr/>
        </p:nvSpPr>
        <p:spPr>
          <a:xfrm>
            <a:off x="250825" y="3220641"/>
            <a:ext cx="8713788" cy="1685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mês seguinte, por problemas logísticos, a empresa recebeu na linha de produção apenas 80% da matéria-prima consumida no mês anterior. Assim, a empresa teve de restringir o seu volume de produção, pois não existiam estoques.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Analise a situação da empresa e determine qual a quantidade que deve ser produzida de cada produto, considerando que o total produzido será vendido. Qual o lucro esperado? </a:t>
            </a:r>
            <a:endParaRPr/>
          </a:p>
        </p:txBody>
      </p:sp>
      <p:graphicFrame>
        <p:nvGraphicFramePr>
          <p:cNvPr id="244" name="Google Shape;244;p41"/>
          <p:cNvGraphicFramePr/>
          <p:nvPr/>
        </p:nvGraphicFramePr>
        <p:xfrm>
          <a:off x="323528" y="7078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{A03BB20E-F91F-4A87-A853-882D3C488639}</a:tableStyleId>
              </a:tblPr>
              <a:tblGrid>
                <a:gridCol w="1656275"/>
                <a:gridCol w="1759550"/>
                <a:gridCol w="1744250"/>
                <a:gridCol w="1598900"/>
                <a:gridCol w="1526225"/>
              </a:tblGrid>
              <a:tr h="11941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PRODUTO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TEMPO DE FABRICAÇÃO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MAT. CONSUMIDO POR UNIDADE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VOLUME PRODUZIDO/ CONSUMIDO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PREÇO DE VENDA ($)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6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5,5 h/un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2,5 kg</a:t>
                      </a:r>
                      <a:endParaRPr sz="1100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12.000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1.500/un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6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4,6 h/un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1,4 kg</a:t>
                      </a:r>
                      <a:endParaRPr sz="1100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6.000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1.300/un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6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6 h/un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1,0 kg</a:t>
                      </a:r>
                      <a:endParaRPr sz="1100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8.000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1.260/un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6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4,3 h/un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0,5 kg</a:t>
                      </a:r>
                      <a:endParaRPr sz="1100"/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4.000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1.000/un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5" name="Google Shape;245;p41"/>
          <p:cNvSpPr txBox="1"/>
          <p:nvPr/>
        </p:nvSpPr>
        <p:spPr>
          <a:xfrm>
            <a:off x="323528" y="249492"/>
            <a:ext cx="1484702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10: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